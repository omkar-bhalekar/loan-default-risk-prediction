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625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DEFAULT RISK PREDICTION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Analytics using Machine Learning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474720" y="2788920"/>
            <a:ext cx="2194560" cy="3657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971800"/>
            <a:ext cx="7680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9CC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Omkar Bhalekar  |  omkarbhalekar2003@gmail.com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61872"/>
            <a:ext cx="438912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7101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335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of Credit Risk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84832"/>
            <a:ext cx="438912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9397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21579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and Features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907792"/>
            <a:ext cx="438912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91693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9809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30752"/>
            <a:ext cx="438912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3989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38039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46320" y="1261872"/>
            <a:ext cx="438912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27101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76672" y="13350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46320" y="2084832"/>
            <a:ext cx="438912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09397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76672" y="215798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&amp; Threshold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2907792"/>
            <a:ext cx="438912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291693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76672" y="298094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Responsible AI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846320" y="3730752"/>
            <a:ext cx="438912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739896"/>
            <a:ext cx="438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76672" y="380390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Credit Risk?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is the probability that a borrower fails to meet their debt obligations, resulting in a financial loss for the lender. It is one of the most significant risks in the banking industry.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Banks quantify credit risk using the Expected Loss formula:  EL = PD × LGD × EAD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2651760" cy="228600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514600"/>
            <a:ext cx="2651760" cy="5029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6928" y="30906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of Default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66928" y="3474720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the borrower will default within a given period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2514600"/>
            <a:ext cx="2651760" cy="228600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2514600"/>
            <a:ext cx="2651760" cy="5029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401568" y="30906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Given Default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01568" y="3474720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 of the exposure not recovered after default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2514600"/>
            <a:ext cx="2651760" cy="228600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2514600"/>
            <a:ext cx="2651760" cy="5029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25146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236208" y="3090672"/>
            <a:ext cx="2450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at Default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3474720"/>
            <a:ext cx="24505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outstanding balance at the time of default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— Lending Club 2007–2018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Details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11480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— Lending Club Accepted Loans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 size: ~1.6 GB, 151 original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used for EDA: 50,000 rows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modelling dataset: 44,006 finalized loans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rate: 20.52% (9,028 defaults)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loans excluded to prevent data leakage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Engineering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508760"/>
          <a:ext cx="4023360" cy="153619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Fully 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— Non-Default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Charged Off /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— 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/ Late / Grace Period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846320" y="315468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selected for modelling (9 → 16 after encoding):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846320" y="3474720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Numerical: loan_amnt, int_rate, annual_inc, fico_range_low, dti, installment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Categorical: grade (A–G), term, home_ownership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4160520" cy="169164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416052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984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Defaulted loans had a significantly higher median interest rate (~13–14%) compared to fully paid loans (~10–11%). Higher rates reflect higher underlying risk.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4160520" cy="169164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0" y="1188720"/>
            <a:ext cx="416052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56048" y="12984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FICO Credit Score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56048" y="16459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 who defaulted had lower median FICO scores (~675–680) than those who fully repaid (~690). Credit score is a strong inverse predictor of default.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160520" cy="169164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17520"/>
            <a:ext cx="416052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31272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Grade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66928" y="34747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increases monotonically from Grade A (5.3%) to Grade G (56.5%). Grade G borrowers are over 10× more likely to default than Grade 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3017520"/>
            <a:ext cx="4160520" cy="169164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3017520"/>
            <a:ext cx="416052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6048" y="31272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56048" y="3474720"/>
            <a:ext cx="3977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79.48% of loans are non-default vs 20.52% default. This imbalance means a naive model achieves ~80% accuracy simply by predicting all non-default.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Testing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7043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hypotheses were formally tested using independent-samples t-tests (scipy.stats.ttest_ind).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8229600" cy="128016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19072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H1: Higher interest rate loans have a significantly higher probability of default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 = 68.78   |   p-value &lt; 0.001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0" y="1783080"/>
            <a:ext cx="1554480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17830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8229600" cy="128016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1546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H2: Borrowers with lower FICO credit scores default more frequently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478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t-statistic = −29.10   |   p-value = 2.17 × 10⁻¹⁸⁴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0" y="3218688"/>
            <a:ext cx="1554480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0" y="321868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results are statistically significant (p &lt; 0.001), confirming interest rate and FICO score as strong predictors.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Building — Logistic Regression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Logistic Regression?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probability scores P(Default) — ideal for threshold tuning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coefficients — meets regulatory requirements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Industry-standard baseline for binary credit risk classification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stable on structured tabular financial data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3794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Steps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4114800"/>
            <a:ext cx="4114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imputation for missing values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 with drop_first=True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on numerical features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train-test split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4632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Configuration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508760"/>
            <a:ext cx="4023360" cy="45720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6002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0" y="16002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0" y="2029968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21214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0" y="21214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2551176"/>
            <a:ext cx="4023360" cy="45720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83480" y="264261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set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26426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35,204 records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3072384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83480" y="31638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set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0" y="316382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8,802 records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3593592"/>
            <a:ext cx="4023360" cy="457200"/>
          </a:xfrm>
          <a:prstGeom prst="rect">
            <a:avLst/>
          </a:prstGeom>
          <a:solidFill>
            <a:srgbClr val="F4F6F7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3480" y="36850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6850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(after encoding)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4114800"/>
            <a:ext cx="40233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5D8D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83480" y="4206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4206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via threshold tuning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 &amp; Threshold Optimisation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 0.50 threshold gives poor recall for the default class. Lowering it significantly improves default detection.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27632"/>
          <a:ext cx="8229600" cy="1609344"/>
        </p:xfrm>
        <a:graphic>
          <a:graphicData uri="http://schemas.openxmlformats.org/drawingml/2006/table">
            <a:tbl>
              <a:tblPr/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ROC-AUC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E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 (Baseline)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0.26 (Final)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2C3E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337560"/>
            <a:ext cx="2697480" cy="150876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3337560"/>
            <a:ext cx="269748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66928" y="3447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3.5× Improvement</a:t>
            </a:r>
            <a:endParaRPr lang="en-US" sz="1200" dirty="0"/>
          </a:p>
        </p:txBody>
      </p:sp>
      <p:sp>
        <p:nvSpPr>
          <p:cNvPr id="5" name="Text 6"/>
          <p:cNvSpPr/>
          <p:nvPr/>
        </p:nvSpPr>
        <p:spPr>
          <a:xfrm>
            <a:off x="566928" y="37947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improved from 15% to 52% by reducing the threshold from 0.50 to 0.26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291840" y="3337560"/>
            <a:ext cx="2697480" cy="150876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91840" y="3337560"/>
            <a:ext cx="269748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01568" y="3447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940 Defaults Caught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3401568" y="37947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only 266 at baseline — 674 additional defaults detected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126480" y="3337560"/>
            <a:ext cx="2697480" cy="1508760"/>
          </a:xfrm>
          <a:prstGeom prst="rect">
            <a:avLst/>
          </a:prstGeom>
          <a:solidFill>
            <a:srgbClr val="F4F6F7"/>
          </a:solidFill>
          <a:ln w="12700">
            <a:solidFill>
              <a:srgbClr val="D5D8D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126480" y="3337560"/>
            <a:ext cx="2697480" cy="54864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36208" y="34472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= 0.72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236208" y="3794760"/>
            <a:ext cx="2514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ranks a random defaulter above a random non-defaulter 72% of the time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Responsible AI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8229600" cy="274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Data Limitations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assumes linear decision boundary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9 features used — production systems use hundreds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cross-validation or probability calibration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covers 2007–2018 — may not reflect current trends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Survivorship bias: only originated loans included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846320" y="11887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&amp; Regulatory Considerations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0" y="1508760"/>
            <a:ext cx="40233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bias: income and home ownership may encode racial disparities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ECOA &amp; Fair Housing Act prohibit discriminatory lending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 11-7 requires model validation and documentation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Art. 22: right to explanation for automated decisions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Fairness audits required before any production deployment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4315968"/>
            <a:ext cx="8229600" cy="502920"/>
          </a:xfrm>
          <a:prstGeom prst="rect">
            <a:avLst/>
          </a:prstGeom>
          <a:solidFill>
            <a:srgbClr val="FEF9E7"/>
          </a:solidFill>
          <a:ln w="12700">
            <a:solidFill>
              <a:srgbClr val="F9E79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3891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7D66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should support, not replace, human judgment. Responsible deployment requires ongoing governance and oversight.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97480" cy="1600200"/>
          </a:xfrm>
          <a:prstGeom prst="rect">
            <a:avLst/>
          </a:prstGeom>
          <a:solidFill>
            <a:srgbClr val="34495E"/>
          </a:solidFill>
          <a:ln w="12700">
            <a:solidFill>
              <a:srgbClr val="4A678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697480" cy="64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1430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Drivers Validated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66928" y="153619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rate (t=68.78) and FICO score (t=−29.10) are statistically significant predictors of default (p &lt; 0.001).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005840"/>
            <a:ext cx="2697480" cy="1600200"/>
          </a:xfrm>
          <a:prstGeom prst="rect">
            <a:avLst/>
          </a:prstGeom>
          <a:solidFill>
            <a:srgbClr val="34495E"/>
          </a:solidFill>
          <a:ln w="12700">
            <a:solidFill>
              <a:srgbClr val="4A678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337560" y="1005840"/>
            <a:ext cx="2697480" cy="64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47288" y="11430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is the Clearest Signal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47288" y="153619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rate rises from 5.3% (Grade A) to 56.5% (Grade G) — a 10× difference across the grading scale.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2697480" cy="1600200"/>
          </a:xfrm>
          <a:prstGeom prst="rect">
            <a:avLst/>
          </a:prstGeom>
          <a:solidFill>
            <a:srgbClr val="34495E"/>
          </a:solidFill>
          <a:ln w="12700">
            <a:solidFill>
              <a:srgbClr val="4A678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005840"/>
            <a:ext cx="2697480" cy="64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27648" y="11430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Improved 3.5×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27648" y="153619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optimisation at 0.26 lifted default detection from 15% to 52%, capturing 674 additional defaults.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600200" y="2834640"/>
            <a:ext cx="2697480" cy="1600200"/>
          </a:xfrm>
          <a:prstGeom prst="rect">
            <a:avLst/>
          </a:prstGeom>
          <a:solidFill>
            <a:srgbClr val="34495E"/>
          </a:solidFill>
          <a:ln w="12700">
            <a:solidFill>
              <a:srgbClr val="4A67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00200" y="2834640"/>
            <a:ext cx="2697480" cy="64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709928" y="29718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= 0.72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09928" y="336499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baseline. The model consistently ranks actual defaulters above non-defaulters across all thresholds.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80560" y="2834640"/>
            <a:ext cx="2697480" cy="1600200"/>
          </a:xfrm>
          <a:prstGeom prst="rect">
            <a:avLst/>
          </a:prstGeom>
          <a:solidFill>
            <a:srgbClr val="34495E"/>
          </a:solidFill>
          <a:ln w="12700">
            <a:solidFill>
              <a:srgbClr val="4A678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80560" y="2834640"/>
            <a:ext cx="2697480" cy="64008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90288" y="29718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 are Non-Negotiable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90288" y="3364992"/>
            <a:ext cx="248716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DC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bias, regulatory compliance, and human oversight must be built into any production credit risk model.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933</Words>
  <Application>Microsoft Office PowerPoint</Application>
  <PresentationFormat>On-screen Show (16:9)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 Default Risk Prediction</dc:title>
  <dc:subject>PptxGenJS Presentation</dc:subject>
  <dc:creator>Omkar Bhalekar</dc:creator>
  <cp:lastModifiedBy>OMKAR BHALEKAR</cp:lastModifiedBy>
  <cp:revision>2</cp:revision>
  <dcterms:created xsi:type="dcterms:W3CDTF">2026-02-27T15:46:50Z</dcterms:created>
  <dcterms:modified xsi:type="dcterms:W3CDTF">2026-02-27T15:55:18Z</dcterms:modified>
</cp:coreProperties>
</file>